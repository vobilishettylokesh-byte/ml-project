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jpg" ContentType="image/jpg"/>
  <Override PartName="/ppt/media/image5.jpg" ContentType="image/jpg"/>
  <Override PartName="/ppt/media/image6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7" r:id="rId18"/>
    <p:sldId id="268" r:id="rId19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55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5992" cy="6035040"/>
          </a:xfrm>
          <a:prstGeom prst="rect">
            <a:avLst/>
          </a:prstGeom>
          <a:ln w="12700">
            <a:solidFill>
              <a:srgbClr val="B08D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650000"/>
            <a:ext cx="12188952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B08D57"/>
                </a:solidFill>
                <a:latin typeface="Calibri"/>
              </a:rPr>
              <a:t>A Project 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050000"/>
            <a:ext cx="10360152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sz="2400" b="1">
                <a:solidFill>
                  <a:srgbClr val="FFFFFF"/>
                </a:solidFill>
                <a:latin typeface="Georgia"/>
              </a:rPr>
              <a:t>SELF-SUPERVISED CONTRASTIVE LEARNING FOR
DOPPLER REGIME CLASSIFICATION IN OTFS SYSTEMS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180076" y="2600000"/>
            <a:ext cx="1828800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50000"/>
            <a:ext cx="10360152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50">
                <a:solidFill>
                  <a:srgbClr val="D5DAE5"/>
                </a:solidFill>
                <a:latin typeface="Calibri"/>
              </a:rPr>
              <a:t>Submitted in partial fulfillment of the requirements for the course</a:t>
            </a:r>
            <a:endParaRPr lang="en-US" sz="1400" dirty="0"/>
          </a:p>
          <a:p>
            <a:pPr algn="ctr"/>
            <a:r>
              <a:rPr sz="1250" b="1">
                <a:solidFill>
                  <a:srgbClr val="B08D57"/>
                </a:solidFill>
                <a:latin typeface="Calibri"/>
              </a:rPr>
              <a:t>MACHINE LEARNING (25SC2107E)   |   A.Y.: 2026–27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0" y="3650000"/>
            <a:ext cx="12188952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08D57"/>
                </a:solidFill>
                <a:latin typeface="Calibri"/>
              </a:rPr>
              <a:t>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980000"/>
            <a:ext cx="301752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Name : LOKESH VOBILISHETTY</a:t>
            </a:r>
            <a:endParaRPr lang="en-US" sz="1400" dirty="0"/>
          </a:p>
          <a:p>
            <a:pPr algn="ctr"/>
            <a:r>
              <a:rPr sz="1100">
                <a:solidFill>
                  <a:srgbClr val="D5DAE5"/>
                </a:solidFill>
                <a:latin typeface="Calibri"/>
              </a:rPr>
              <a:t>Roll No: 2520040040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4617720" y="3980000"/>
            <a:ext cx="301752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Name : KNSV MADHUSUDHAN</a:t>
            </a:r>
            <a:endParaRPr lang="en-US" sz="1400" dirty="0"/>
          </a:p>
          <a:p>
            <a:pPr algn="ctr"/>
            <a:r>
              <a:rPr sz="1100">
                <a:solidFill>
                  <a:srgbClr val="D5DAE5"/>
                </a:solidFill>
                <a:latin typeface="Calibri"/>
              </a:rPr>
              <a:t>Roll No: 2520040089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7772400" y="3980000"/>
            <a:ext cx="301752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Name : VARANASI SREEKAR</a:t>
            </a:r>
            <a:endParaRPr lang="en-US" sz="1400" dirty="0"/>
          </a:p>
          <a:p>
            <a:pPr algn="ctr"/>
            <a:r>
              <a:rPr sz="1100">
                <a:solidFill>
                  <a:srgbClr val="D5DAE5"/>
                </a:solidFill>
                <a:latin typeface="Calibri"/>
              </a:rPr>
              <a:t>Roll No: 2520040019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0" y="5150000"/>
            <a:ext cx="12188952" cy="9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50">
                <a:solidFill>
                  <a:srgbClr val="D5DAE5"/>
                </a:solidFill>
                <a:latin typeface="Calibri"/>
              </a:rPr>
              <a:t>Under the Esteemed guidance of </a:t>
            </a:r>
            <a:r>
              <a:rPr sz="1150" b="1">
                <a:solidFill>
                  <a:srgbClr val="FFFFFF"/>
                </a:solidFill>
                <a:latin typeface="Calibri"/>
              </a:rPr>
              <a:t>Mr. N Lava Prasad</a:t>
            </a:r>
            <a:r>
              <a:rPr sz="1150">
                <a:solidFill>
                  <a:srgbClr val="D5DAE5"/>
                </a:solidFill>
                <a:latin typeface="Calibri"/>
              </a:rPr>
              <a:t>, Assistant Professor, Department of ECE</a:t>
            </a:r>
            <a:endParaRPr lang="en-US" sz="1250" dirty="0"/>
          </a:p>
          <a:p>
            <a:pPr algn="ctr"/>
            <a:r>
              <a:rPr sz="1150" b="1">
                <a:solidFill>
                  <a:srgbClr val="B08D57"/>
                </a:solidFill>
                <a:latin typeface="Calibri"/>
              </a:rPr>
              <a:t>DEPARTMENT OF ELECTRONICS &amp;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of High-Mobility Wireless Communication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5G-Advanced and 6G networks must serve users and devices moving at widely different speeds. OTFS modulation is a leading candidate for such networks because it tolerates fast channel variation; however, the receiver must know the prevailing Doppler behaviour in order to adapt its processing.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2606040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2606040" cy="6400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23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V2X links despite rapidly changing relative speeds.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74136" y="2743200"/>
            <a:ext cx="2606040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2743200"/>
            <a:ext cx="2606040" cy="6400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02736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602736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and UAVs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02736" y="4023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control and data links during agile, high-speed flight.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2743200"/>
            <a:ext cx="2606040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2743200"/>
            <a:ext cx="2606040" cy="6400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Trains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4023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connectivity at 300+ km/h with fast handovers.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25128" y="2743200"/>
            <a:ext cx="2606040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25128" y="2743200"/>
            <a:ext cx="2606040" cy="6400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53728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Networks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53728" y="4023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links under large Doppler shifts from orbital motion.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recognition of the Doppler regime lets receivers adapt in real time, improving reliability across all of these settings.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Identifying the Doppler Regime in OTFS Channels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High-mobility scenarios cause wireless channels to change continuously, introducing Doppler shifts that degrade communication performance. OTFS represents the channel in the delay-Doppler domain, but distinguishing the Doppler regime remains a difficult pattern-recognition task.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4864" cy="5943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0175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conditions vary rapidly and unpredictably with user mobility.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4864" cy="5943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7947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Integer, fractional, and rapidly-varying Doppler are hard to separate reliably.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4864" cy="5943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5720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accurately labelled channel datasets are costly and slow to collect.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54864" cy="5943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3492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supervised models do not scale without abundant labelled data.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regimes to be classified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874520"/>
          <a:ext cx="4325112" cy="2880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Doppler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Whole-bin frequency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 Doppler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Non-integer shift causing spectral leakage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Rapidly-Varying Doppler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unstable channel fluctuation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Self-Supervised, Contrastive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relying on large labelled datasets, the model learns channel representations directly from unlabelled delay-Doppler data by contrasting augmented views of the same channel against those of different channels.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4406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82296" cy="1325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Contrastive Learning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278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Representations of the same Doppler regime are pulled together; different regimes are pushed apart in embedding space.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697480"/>
            <a:ext cx="54406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697480"/>
            <a:ext cx="82296" cy="1325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2834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Self-Supervision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2278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labels are needed for pretraining; the model learns from the structure of the data itself.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54406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51960"/>
            <a:ext cx="82296" cy="1325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389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Design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7823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representation learning is followed by lightweight supervised fine-tuning.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4251960"/>
            <a:ext cx="54406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4251960"/>
            <a:ext cx="82296" cy="1325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4389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Efficiency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7823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small labelled subset is required to fine-tune the final classifier.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 and Training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combines a contrastive encoder with a downstream CNN classifier, trained in two stages.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514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94560"/>
            <a:ext cx="251460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Augmented Views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3832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stochastic augmentations of each delay-Doppler sample.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18104" y="3310128"/>
            <a:ext cx="256032" cy="237744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2194560"/>
            <a:ext cx="2514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2194560"/>
            <a:ext cx="251460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Contrastive Encoder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3832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same-regime pairs together and pushes different regimes apart (NT-Xent loss).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98464" y="3310128"/>
            <a:ext cx="256032" cy="237744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194560"/>
            <a:ext cx="2514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194560"/>
            <a:ext cx="251460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Embeddings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3832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feature representation of channel behaviour.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78824" y="3310128"/>
            <a:ext cx="256032" cy="237744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27" name="Shape 25"/>
          <p:cNvSpPr/>
          <p:nvPr/>
        </p:nvSpPr>
        <p:spPr>
          <a:xfrm>
            <a:off x="9189720" y="2194560"/>
            <a:ext cx="2514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9720" y="2194560"/>
            <a:ext cx="251460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89720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Classifier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33832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embeddings to Integer, Fractional, or Rapidly-varying Doppler.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029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options: 1-D / 2-D CNN encoder over delay-Doppler bins.  Loss: NT-Xent (SimCLR-style).  Classifier: lightweight CNN head fine-tuned on limited labelled samples.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94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OTFS channels under varying mobility speeds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50792" y="2336292"/>
            <a:ext cx="310896" cy="219456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16002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6002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194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channel data into the delay-Doppler representation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36992" y="2336292"/>
            <a:ext cx="310896" cy="219456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16002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6002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496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194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contrastive augmentation pairs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576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2519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 of the encoder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50792" y="4393692"/>
            <a:ext cx="310896" cy="219456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4840" y="36576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6576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634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42519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CNN classifier on limited labels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36992" y="4393692"/>
            <a:ext cx="310896" cy="219456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32" name="Shape 30"/>
          <p:cNvSpPr/>
          <p:nvPr/>
        </p:nvSpPr>
        <p:spPr>
          <a:xfrm>
            <a:off x="8321040" y="36576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36576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496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549640" y="42519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interpret Doppler-regime predictions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(PyTorch) for model development; MATLAB for OTFS channel and mobility simulation.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SETUP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5233"/>
            <a:ext cx="10004282" cy="66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 and Evaluation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parameters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414223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OTFS, delay-Doppler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medium, and high speed (integer / fractional / rapidly-varying)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Multipath fading with Doppler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Synthetically generated; unlabelled for pretraining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SNR levels for robustness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Pretraining set plus small labelled fine-tuning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7724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1737360"/>
            <a:ext cx="3867912" cy="411480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1920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across the three Doppler regimes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68833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268833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to expose regime-pair confusions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345643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4564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 fully-supervised CNN baseline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22452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42245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efficiency: accuracy versus labelled data used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499262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49926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across SNR levels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346EF5A-D43F-51B2-82D3-1EE6B90CDFED}"/>
              </a:ext>
            </a:extLst>
          </p:cNvPr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r>
              <a:rPr lang="en-US" dirty="0"/>
              <a:t>II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FDC25-F637-99FD-A3A4-EA8E496FC7FF}"/>
              </a:ext>
            </a:extLst>
          </p:cNvPr>
          <p:cNvSpPr txBox="1"/>
          <p:nvPr/>
        </p:nvSpPr>
        <p:spPr>
          <a:xfrm>
            <a:off x="279918" y="251927"/>
            <a:ext cx="64381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2"/>
                </a:solidFill>
                <a:latin typeface="Georgia" panose="02040502050405020303" pitchFamily="18" charset="0"/>
              </a:rPr>
              <a:t>Implemented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sz="2600" b="1" dirty="0">
                <a:solidFill>
                  <a:schemeClr val="bg2"/>
                </a:solidFill>
                <a:latin typeface="Georgia" panose="02040502050405020303" pitchFamily="18" charset="0"/>
              </a:rPr>
              <a:t>Code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7DE02-21C7-DD27-1D3B-F49A336454D0}"/>
              </a:ext>
            </a:extLst>
          </p:cNvPr>
          <p:cNvSpPr txBox="1"/>
          <p:nvPr/>
        </p:nvSpPr>
        <p:spPr>
          <a:xfrm>
            <a:off x="74645" y="1315616"/>
            <a:ext cx="11999167" cy="541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CACAC4-66FA-F511-E526-01569A46B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5" y="1273295"/>
            <a:ext cx="3566469" cy="49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13EB46-5404-C051-7DEC-50C2F8689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223" y="1273295"/>
            <a:ext cx="3635055" cy="54138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289C78-5CDF-BADF-C864-1AAA00928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510" y="1273295"/>
            <a:ext cx="3604572" cy="531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38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A6070"/>
                </a:solidFill>
                <a:latin typeface="Calibri"/>
              </a:rPr>
              <a:t>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258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 training curve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5989320" cy="405079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10" name="Image 0" descr="/home/claude/ppt/training_curve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91640"/>
            <a:ext cx="5843016" cy="390448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12280" y="132588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samples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1618488"/>
            <a:ext cx="4828032" cy="17922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13" name="Image 1" descr="/home/claude/ppt/actual_vs_p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673352"/>
            <a:ext cx="4681728" cy="16824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12280" y="359359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12280" y="3886200"/>
            <a:ext cx="482803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16" name="Image 2" descr="/home/claude/ppt/confusion_matri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3941064"/>
            <a:ext cx="4681728" cy="167335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5779008"/>
            <a:ext cx="11091672" cy="50292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5800" y="5779008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  </a:t>
            </a: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(171/180)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458718" y="5779008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  </a:t>
            </a: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Doppler Accuracy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321558" y="5852160"/>
            <a:ext cx="0" cy="356616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231636" y="5779008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  </a:t>
            </a: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Doppler Accuracy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094476" y="5852160"/>
            <a:ext cx="0" cy="356616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004554" y="5779008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  </a:t>
            </a: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Doppler Accuracy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867394" y="5852160"/>
            <a:ext cx="0" cy="356616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Georgia"/>
              </a:rPr>
              <a:t>Roadmap to 100% Project Completion (Final 10%)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A6070"/>
                </a:solidFill>
                <a:latin typeface="Calibri"/>
              </a:rPr>
              <a:t>12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114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B2F3A"/>
                          </a:solidFill>
                          <a:latin typeface="Calibri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14213D"/>
                          </a:solidFill>
                          <a:latin typeface="Calibri"/>
                        </a:rPr>
                        <a:t>Comparative Baseline Benchmarking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B2F3A"/>
                          </a:solidFill>
                          <a:latin typeface="Calibri"/>
                        </a:rPr>
                        <a:t>Evaluate label-efficiency gains against fully-supervised CNN across 1%, 5%, and 10% labelled subsets.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B2F3A"/>
                          </a:solidFill>
                          <a:latin typeface="Calibri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14213D"/>
                          </a:solidFill>
                          <a:latin typeface="Calibri"/>
                        </a:rPr>
                        <a:t>Low-SNR Sensitivity &amp; Precision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B2F3A"/>
                          </a:solidFill>
                          <a:latin typeface="Calibri"/>
                        </a:rPr>
                        <a:t>Stress-test precision stability under severe noise conditions (-5 dB to +5 dB SNR) to verify robustness.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B2F3A"/>
                          </a:solidFill>
                          <a:latin typeface="Calibri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14213D"/>
                          </a:solidFill>
                          <a:latin typeface="Calibri"/>
                        </a:rPr>
                        <a:t>Hardware Latency &amp; Complexity Profiling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B2F3A"/>
                          </a:solidFill>
                          <a:latin typeface="Calibri"/>
                        </a:rPr>
                        <a:t>Measure per-frame delay-Doppler inference latency (ms) and computational FLOPs on edge receiver targets.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B2F3A"/>
                          </a:solidFill>
                          <a:latin typeface="Calibri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14213D"/>
                          </a:solidFill>
                          <a:latin typeface="Calibri"/>
                        </a:rPr>
                        <a:t>Final Documentation &amp; Project Defense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B2F3A"/>
                          </a:solidFill>
                          <a:latin typeface="Calibri"/>
                        </a:rPr>
                        <a:t>Consolidate simulation graphs, precision tables, and complete final project report and presentation.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5992" cy="6035040"/>
          </a:xfrm>
          <a:prstGeom prst="rect">
            <a:avLst/>
          </a:prstGeom>
          <a:ln w="12700">
            <a:solidFill>
              <a:srgbClr val="B08D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data-efficient path to reliable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high-mobility wireless communication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18688"/>
            <a:ext cx="128016" cy="128016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3108960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dependency on large labelled Doppler-regime datasets.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904488"/>
            <a:ext cx="128016" cy="128016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3794760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adaptive, mobility-aware OTFS receivers for 5G-Advanced and 6G.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4590288"/>
            <a:ext cx="128016" cy="128016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4480560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</a:rPr>
              <a:t>Achieved </a:t>
            </a:r>
            <a:r>
              <a:rPr sz="1400" b="1">
                <a:solidFill>
                  <a:srgbClr val="B08D57"/>
                </a:solidFill>
                <a:latin typeface="Calibri"/>
              </a:rPr>
              <a:t>95.1% Macro Precision (100% High-Doppler Reliability)</a:t>
            </a:r>
            <a:r>
              <a:rPr sz="1400">
                <a:solidFill>
                  <a:srgbClr val="FFFFFF"/>
                </a:solidFill>
                <a:latin typeface="Calibri"/>
              </a:rPr>
              <a:t> with 90% project completion; finalizing baseline benchmarking.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08D57"/>
                </a:solidFill>
                <a:latin typeface="Calibri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Georgia"/>
              </a:rPr>
              <a:t>Precision-Driven Doppler Regime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70"/>
                </a:solidFill>
                <a:latin typeface="Calibri"/>
              </a:rPr>
              <a:t>Self-Supervised Contrastive Learning for Doppler-Regime Classification in OTFS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70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000"/>
            <a:ext cx="11091672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213D"/>
                </a:solidFill>
                <a:latin typeface="Calibri"/>
              </a:rPr>
              <a:t>Why Precision is Our Primary Operational Metric: </a:t>
            </a:r>
            <a:r>
              <a:rPr sz="1150">
                <a:solidFill>
                  <a:srgbClr val="2B2F3A"/>
                </a:solidFill>
                <a:latin typeface="Calibri"/>
              </a:rPr>
              <a:t>In high-mobility OTFS communications, false positives cause the receiver to allocate inappropriate equalizer architectures—wasting critical DSP power and causing severe noise enhancement. Zero High-Doppler false alarms guarantees stable adaptive switching.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50000"/>
            <a:ext cx="3500000" cy="240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50000"/>
            <a:ext cx="80000" cy="24000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640" y="2070000"/>
            <a:ext cx="322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213D"/>
                </a:solidFill>
                <a:latin typeface="Calibri"/>
              </a:rPr>
              <a:t>High Doppler Regime</a:t>
            </a:r>
          </a:p>
          <a:p>
            <a:r>
              <a:rPr sz="2000" b="1">
                <a:solidFill>
                  <a:srgbClr val="B08D57"/>
                </a:solidFill>
                <a:latin typeface="Georgia"/>
              </a:rPr>
              <a:t>100.0%  </a:t>
            </a:r>
            <a:r>
              <a:rPr sz="1000">
                <a:solidFill>
                  <a:srgbClr val="5A6070"/>
                </a:solidFill>
                <a:latin typeface="Calibri"/>
              </a:rPr>
              <a:t>(58 / 58 True Positives)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640" y="2870000"/>
            <a:ext cx="322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08D57"/>
                </a:solidFill>
                <a:latin typeface="Calibri"/>
              </a:rPr>
              <a:t>• </a:t>
            </a:r>
            <a:r>
              <a:rPr sz="950">
                <a:solidFill>
                  <a:srgbClr val="2B2F3A"/>
                </a:solidFill>
                <a:latin typeface="Calibri"/>
              </a:rPr>
              <a:t>Zero False Alarms: 0 low/medium samples misclassified into high Doppler.</a:t>
            </a:r>
          </a:p>
          <a:p>
            <a:r>
              <a:rPr sz="1000" b="1">
                <a:solidFill>
                  <a:srgbClr val="B08D57"/>
                </a:solidFill>
                <a:latin typeface="Calibri"/>
              </a:rPr>
              <a:t>• </a:t>
            </a:r>
            <a:r>
              <a:rPr sz="950">
                <a:solidFill>
                  <a:srgbClr val="2B2F3A"/>
                </a:solidFill>
                <a:latin typeface="Calibri"/>
              </a:rPr>
              <a:t>Crucial for high-speed UAVs and high-speed rail (&gt;300 km/h).</a:t>
            </a:r>
          </a:p>
          <a:p>
            <a:r>
              <a:rPr sz="1000" b="1">
                <a:solidFill>
                  <a:srgbClr val="B08D57"/>
                </a:solidFill>
                <a:latin typeface="Calibri"/>
              </a:rPr>
              <a:t>• </a:t>
            </a:r>
            <a:r>
              <a:rPr sz="950">
                <a:solidFill>
                  <a:srgbClr val="2B2F3A"/>
                </a:solidFill>
                <a:latin typeface="Calibri"/>
              </a:rPr>
              <a:t>Prevents unwarranted activation of high-complexity equalizers.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4476" y="1950000"/>
            <a:ext cx="3500000" cy="240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4476" y="1950000"/>
            <a:ext cx="80000" cy="240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4476" y="2070000"/>
            <a:ext cx="322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213D"/>
                </a:solidFill>
                <a:latin typeface="Calibri"/>
              </a:rPr>
              <a:t>Medium Doppler Regime</a:t>
            </a:r>
          </a:p>
          <a:p>
            <a:r>
              <a:rPr sz="2000" b="1">
                <a:solidFill>
                  <a:srgbClr val="14213D"/>
                </a:solidFill>
                <a:latin typeface="Georgia"/>
              </a:rPr>
              <a:t>93.2%  </a:t>
            </a:r>
            <a:r>
              <a:rPr sz="1000">
                <a:solidFill>
                  <a:srgbClr val="5A6070"/>
                </a:solidFill>
                <a:latin typeface="Calibri"/>
              </a:rPr>
              <a:t>(55 / 59 True Positives)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4476" y="2870000"/>
            <a:ext cx="322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4213D"/>
                </a:solidFill>
                <a:latin typeface="Calibri"/>
              </a:rPr>
              <a:t>• </a:t>
            </a:r>
            <a:r>
              <a:rPr sz="950">
                <a:solidFill>
                  <a:srgbClr val="2B2F3A"/>
                </a:solidFill>
                <a:latin typeface="Calibri"/>
              </a:rPr>
              <a:t>Accurately isolates fractional Doppler spectral leakage.</a:t>
            </a:r>
          </a:p>
          <a:p>
            <a:r>
              <a:rPr sz="1000" b="1">
                <a:solidFill>
                  <a:srgbClr val="14213D"/>
                </a:solidFill>
                <a:latin typeface="Calibri"/>
              </a:rPr>
              <a:t>• </a:t>
            </a:r>
            <a:r>
              <a:rPr sz="950">
                <a:solidFill>
                  <a:srgbClr val="2B2F3A"/>
                </a:solidFill>
                <a:latin typeface="Calibri"/>
              </a:rPr>
              <a:t>Only 4 false positives across the entire evaluation set.</a:t>
            </a:r>
          </a:p>
          <a:p>
            <a:r>
              <a:rPr sz="1000" b="1">
                <a:solidFill>
                  <a:srgbClr val="14213D"/>
                </a:solidFill>
                <a:latin typeface="Calibri"/>
              </a:rPr>
              <a:t>• </a:t>
            </a:r>
            <a:r>
              <a:rPr sz="950">
                <a:solidFill>
                  <a:srgbClr val="2B2F3A"/>
                </a:solidFill>
                <a:latin typeface="Calibri"/>
              </a:rPr>
              <a:t>Enables targeted fractional-shift mitigation with high confidence.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0312" y="1950000"/>
            <a:ext cx="3500000" cy="240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0312" y="1950000"/>
            <a:ext cx="80000" cy="240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0312" y="2070000"/>
            <a:ext cx="322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213D"/>
                </a:solidFill>
                <a:latin typeface="Calibri"/>
              </a:rPr>
              <a:t>Low Doppler Regime</a:t>
            </a:r>
          </a:p>
          <a:p>
            <a:r>
              <a:rPr sz="2000" b="1">
                <a:solidFill>
                  <a:srgbClr val="14213D"/>
                </a:solidFill>
                <a:latin typeface="Georgia"/>
              </a:rPr>
              <a:t>92.1%  </a:t>
            </a:r>
            <a:r>
              <a:rPr sz="1000">
                <a:solidFill>
                  <a:srgbClr val="5A6070"/>
                </a:solidFill>
                <a:latin typeface="Calibri"/>
              </a:rPr>
              <a:t>(58 / 63 True Positives)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0312" y="2870000"/>
            <a:ext cx="322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4213D"/>
                </a:solidFill>
                <a:latin typeface="Calibri"/>
              </a:rPr>
              <a:t>• </a:t>
            </a:r>
            <a:r>
              <a:rPr sz="950">
                <a:solidFill>
                  <a:srgbClr val="2B2F3A"/>
                </a:solidFill>
                <a:latin typeface="Calibri"/>
              </a:rPr>
              <a:t>Ensures low-complexity, energy-efficient receivers operate safely.</a:t>
            </a:r>
          </a:p>
          <a:p>
            <a:r>
              <a:rPr sz="1000" b="1">
                <a:solidFill>
                  <a:srgbClr val="14213D"/>
                </a:solidFill>
                <a:latin typeface="Calibri"/>
              </a:rPr>
              <a:t>• </a:t>
            </a:r>
            <a:r>
              <a:rPr sz="950">
                <a:solidFill>
                  <a:srgbClr val="2B2F3A"/>
                </a:solidFill>
                <a:latin typeface="Calibri"/>
              </a:rPr>
              <a:t>Eliminates under-equalization cross-talk from higher mobility bins.</a:t>
            </a:r>
          </a:p>
          <a:p>
            <a:r>
              <a:rPr sz="1000" b="1">
                <a:solidFill>
                  <a:srgbClr val="14213D"/>
                </a:solidFill>
                <a:latin typeface="Calibri"/>
              </a:rPr>
              <a:t>• </a:t>
            </a:r>
            <a:r>
              <a:rPr sz="950">
                <a:solidFill>
                  <a:srgbClr val="2B2F3A"/>
                </a:solidFill>
                <a:latin typeface="Calibri"/>
              </a:rPr>
              <a:t>Reliable baseline regime identification for stationary &amp; urban users.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50000"/>
            <a:ext cx="11091672" cy="160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0000" y="4670000"/>
            <a:ext cx="10691672" cy="1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08D57"/>
                </a:solidFill>
                <a:latin typeface="Calibri"/>
              </a:rPr>
              <a:t>MACRO PRECISION: 95.1%   |   WEIGHTED PRECISION: 95.1%   |   HIGH-DOPPLER RELIABILITY: 100.0%</a:t>
            </a:r>
          </a:p>
          <a:p>
            <a:r>
              <a:rPr sz="1100" b="1">
                <a:solidFill>
                  <a:srgbClr val="FFFFFF"/>
                </a:solidFill>
                <a:latin typeface="Calibri"/>
              </a:rPr>
              <a:t>Contrastive Representation Quality: </a:t>
            </a:r>
            <a:r>
              <a:rPr sz="1050">
                <a:solidFill>
                  <a:srgbClr val="D5DAE5"/>
                </a:solidFill>
                <a:latin typeface="Calibri"/>
              </a:rPr>
              <a:t>The self-supervised SimCLR pretraining with NT-Xent loss clusters delay-Doppler embeddings with high angular purity, yielding near-perfect precision across all regimes without requiring massive labelled datasets.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08D57"/>
                </a:solidFill>
                <a:latin typeface="Calibri"/>
              </a:rPr>
              <a:t>CURRENT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Georgia"/>
              </a:rPr>
              <a:t>Project Status &amp; Milestones (90% Completed)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2823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70"/>
                </a:solidFill>
                <a:latin typeface="Calibri"/>
              </a:rPr>
              <a:t>Self-Supervised Contrastive Learning for Doppler-Regime Classification in OTFS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70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50000"/>
            <a:ext cx="11091672" cy="75000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0000" y="1330000"/>
            <a:ext cx="1069167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5E20"/>
                </a:solidFill>
                <a:latin typeface="Georgia"/>
              </a:rPr>
              <a:t>PROJECT STATUS: 90% COMPLETED  </a:t>
            </a:r>
            <a:r>
              <a:rPr sz="1200" b="1">
                <a:solidFill>
                  <a:srgbClr val="14213D"/>
                </a:solidFill>
                <a:latin typeface="Calibri"/>
              </a:rPr>
              <a:t>— Core Architecture, Pretraining, Classification &amp; Precision Validation Finished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5380000" cy="12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50000"/>
            <a:ext cx="70000" cy="125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640" y="2230000"/>
            <a:ext cx="518000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1. OTFS Channel Dataset Simulation  </a:t>
            </a:r>
            <a:r>
              <a:rPr sz="950" b="1">
                <a:solidFill>
                  <a:srgbClr val="1B5E20"/>
                </a:solidFill>
                <a:latin typeface="Calibri"/>
              </a:rPr>
              <a:t>[100% COMPLETED]</a:t>
            </a:r>
          </a:p>
          <a:p>
            <a:r>
              <a:rPr sz="950">
                <a:solidFill>
                  <a:srgbClr val="2B2F3A"/>
                </a:solidFill>
                <a:latin typeface="Calibri"/>
              </a:rPr>
              <a:t>Simulated multi-velocity delay-Doppler OTFS channels (integer, fractional, rapidly varying). Saved signals.npy, labels.npy, and velocities.npy.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0312" y="2150000"/>
            <a:ext cx="5380000" cy="12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0312" y="2150000"/>
            <a:ext cx="70000" cy="125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312" y="2230000"/>
            <a:ext cx="518000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2. Contrastive Encoder Pretraining  </a:t>
            </a:r>
            <a:r>
              <a:rPr sz="950" b="1">
                <a:solidFill>
                  <a:srgbClr val="1B5E20"/>
                </a:solidFill>
                <a:latin typeface="Calibri"/>
              </a:rPr>
              <a:t>[100% COMPLETED]</a:t>
            </a:r>
          </a:p>
          <a:p>
            <a:r>
              <a:rPr sz="950">
                <a:solidFill>
                  <a:srgbClr val="2B2F3A"/>
                </a:solidFill>
                <a:latin typeface="Calibri"/>
              </a:rPr>
              <a:t>SimCLR contrastive framework implemented and trained for 20 epochs with NT-Xent loss. Training loss converged smoothly from 3.23 to 2.41.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30000"/>
            <a:ext cx="5380000" cy="12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30000"/>
            <a:ext cx="70000" cy="125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640" y="3610000"/>
            <a:ext cx="518000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3. Downstream CNN Classifier Head  </a:t>
            </a:r>
            <a:r>
              <a:rPr sz="950" b="1">
                <a:solidFill>
                  <a:srgbClr val="1B5E20"/>
                </a:solidFill>
                <a:latin typeface="Calibri"/>
              </a:rPr>
              <a:t>[100% COMPLETED]</a:t>
            </a:r>
          </a:p>
          <a:p>
            <a:r>
              <a:rPr sz="950">
                <a:solidFill>
                  <a:srgbClr val="2B2F3A"/>
                </a:solidFill>
                <a:latin typeface="Calibri"/>
              </a:rPr>
              <a:t>Lightweight CNN classifier trained on top of frozen learned embeddings using limited labelled samples; achieved 95.0% classification accuracy.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0312" y="3530000"/>
            <a:ext cx="5380000" cy="12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0312" y="3530000"/>
            <a:ext cx="70000" cy="125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312" y="3610000"/>
            <a:ext cx="518000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4. Precision &amp; Confusion Matrix Validation  </a:t>
            </a:r>
            <a:r>
              <a:rPr sz="950" b="1">
                <a:solidFill>
                  <a:srgbClr val="1B5E20"/>
                </a:solidFill>
                <a:latin typeface="Calibri"/>
              </a:rPr>
              <a:t>[100% COMPLETED]</a:t>
            </a:r>
          </a:p>
          <a:p>
            <a:r>
              <a:rPr sz="950">
                <a:solidFill>
                  <a:srgbClr val="2B2F3A"/>
                </a:solidFill>
                <a:latin typeface="Calibri"/>
              </a:rPr>
              <a:t>Full test split evaluation executed; achieved 100.0% precision on High Doppler, 95.1% macro precision, and confirmed zero false alarms.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10000"/>
            <a:ext cx="5380000" cy="12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10000"/>
            <a:ext cx="70000" cy="125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640" y="4990000"/>
            <a:ext cx="518000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5. End-to-End Modular Pipeline (run.py)  </a:t>
            </a:r>
            <a:r>
              <a:rPr sz="950" b="1">
                <a:solidFill>
                  <a:srgbClr val="1B5E20"/>
                </a:solidFill>
                <a:latin typeface="Calibri"/>
              </a:rPr>
              <a:t>[100% COMPLETED]</a:t>
            </a:r>
          </a:p>
          <a:p>
            <a:r>
              <a:rPr sz="950">
                <a:solidFill>
                  <a:srgbClr val="2B2F3A"/>
                </a:solidFill>
                <a:latin typeface="Calibri"/>
              </a:rPr>
              <a:t>Automated workflow scripts created (dataset.py, contrastive_train.py, evaluation.py, predict.py) and successfully verified end-to-end.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0312" y="4910000"/>
            <a:ext cx="5380000" cy="12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0312" y="4910000"/>
            <a:ext cx="70000" cy="12500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312" y="4990000"/>
            <a:ext cx="5180000" cy="1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6. Comparative Baseline Benchmarking  </a:t>
            </a:r>
            <a:r>
              <a:rPr sz="950" b="1">
                <a:solidFill>
                  <a:srgbClr val="B08D57"/>
                </a:solidFill>
                <a:latin typeface="Calibri"/>
              </a:rPr>
              <a:t>[IN PROGRESS (FINAL 10%)]</a:t>
            </a:r>
          </a:p>
          <a:p>
            <a:r>
              <a:rPr sz="950">
                <a:solidFill>
                  <a:srgbClr val="2B2F3A"/>
                </a:solidFill>
                <a:latin typeface="Calibri"/>
              </a:rPr>
              <a:t>Benchmarking label-efficiency gains against fully-supervised baselines (1%, 5%, 10% label subsets) across SNR levels (-5 dB to 20 dB); drafting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929</Words>
  <Application>Microsoft Office PowerPoint</Application>
  <PresentationFormat>Widescreen</PresentationFormat>
  <Paragraphs>175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Sangeetha V</cp:lastModifiedBy>
  <cp:revision>3</cp:revision>
  <dcterms:created xsi:type="dcterms:W3CDTF">2026-09-29T08:10:20Z</dcterms:created>
  <dcterms:modified xsi:type="dcterms:W3CDTF">2026-10-15T01:23:23Z</dcterms:modified>
</cp:coreProperties>
</file>